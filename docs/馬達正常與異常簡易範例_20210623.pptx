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9" r:id="rId4"/>
    <p:sldId id="25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97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65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267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4964"/>
            <a:ext cx="5380567" cy="397033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3367" y="1604964"/>
            <a:ext cx="5380567" cy="397033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706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73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5401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39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99612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8023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503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2851" y="273050"/>
            <a:ext cx="2741083" cy="530225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3050"/>
            <a:ext cx="8020051" cy="530225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08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"/>
          <p:cNvGrpSpPr>
            <a:grpSpLocks/>
          </p:cNvGrpSpPr>
          <p:nvPr/>
        </p:nvGrpSpPr>
        <p:grpSpPr bwMode="auto">
          <a:xfrm>
            <a:off x="1" y="6416675"/>
            <a:ext cx="12179300" cy="431800"/>
            <a:chOff x="0" y="4042"/>
            <a:chExt cx="5754" cy="272"/>
          </a:xfrm>
        </p:grpSpPr>
        <p:sp>
          <p:nvSpPr>
            <p:cNvPr id="1033" name="Rectangle 2"/>
            <p:cNvSpPr>
              <a:spLocks noChangeArrowheads="1"/>
            </p:cNvSpPr>
            <p:nvPr/>
          </p:nvSpPr>
          <p:spPr bwMode="auto">
            <a:xfrm>
              <a:off x="0" y="4042"/>
              <a:ext cx="5754" cy="272"/>
            </a:xfrm>
            <a:prstGeom prst="rect">
              <a:avLst/>
            </a:prstGeom>
            <a:solidFill>
              <a:srgbClr val="1E2E6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zh-TW" altLang="en-US" sz="1800"/>
            </a:p>
          </p:txBody>
        </p:sp>
        <p:sp>
          <p:nvSpPr>
            <p:cNvPr id="2" name="Rectangle 3"/>
            <p:cNvSpPr>
              <a:spLocks noChangeArrowheads="1"/>
            </p:cNvSpPr>
            <p:nvPr/>
          </p:nvSpPr>
          <p:spPr bwMode="auto">
            <a:xfrm>
              <a:off x="0" y="4102"/>
              <a:ext cx="5754" cy="1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45720" tIns="45000" rIns="45720" bIns="45000" anchor="ctr">
              <a:spAutoFit/>
            </a:bodyPr>
            <a:lstStyle>
              <a:lvl1pPr>
                <a:tabLst>
                  <a:tab pos="0" algn="l"/>
                  <a:tab pos="444500" algn="l"/>
                  <a:tab pos="893763" algn="l"/>
                  <a:tab pos="1343025" algn="l"/>
                  <a:tab pos="1792288" algn="l"/>
                  <a:tab pos="2241550" algn="l"/>
                  <a:tab pos="2690813" algn="l"/>
                  <a:tab pos="3140075" algn="l"/>
                  <a:tab pos="3589338" algn="l"/>
                  <a:tab pos="4038600" algn="l"/>
                  <a:tab pos="4487863" algn="l"/>
                  <a:tab pos="4937125" algn="l"/>
                  <a:tab pos="5386388" algn="l"/>
                  <a:tab pos="5835650" algn="l"/>
                  <a:tab pos="6284913" algn="l"/>
                  <a:tab pos="6734175" algn="l"/>
                  <a:tab pos="7183438" algn="l"/>
                  <a:tab pos="7632700" algn="l"/>
                  <a:tab pos="8081963" algn="l"/>
                  <a:tab pos="8531225" algn="l"/>
                  <a:tab pos="8980488" algn="l"/>
                  <a:tab pos="9429750" algn="l"/>
                  <a:tab pos="9879013" algn="l"/>
                  <a:tab pos="10328275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</a:defRPr>
              </a:lvl1pPr>
              <a:lvl2pPr>
                <a:tabLst>
                  <a:tab pos="0" algn="l"/>
                  <a:tab pos="444500" algn="l"/>
                  <a:tab pos="893763" algn="l"/>
                  <a:tab pos="1343025" algn="l"/>
                  <a:tab pos="1792288" algn="l"/>
                  <a:tab pos="2241550" algn="l"/>
                  <a:tab pos="2690813" algn="l"/>
                  <a:tab pos="3140075" algn="l"/>
                  <a:tab pos="3589338" algn="l"/>
                  <a:tab pos="4038600" algn="l"/>
                  <a:tab pos="4487863" algn="l"/>
                  <a:tab pos="4937125" algn="l"/>
                  <a:tab pos="5386388" algn="l"/>
                  <a:tab pos="5835650" algn="l"/>
                  <a:tab pos="6284913" algn="l"/>
                  <a:tab pos="6734175" algn="l"/>
                  <a:tab pos="7183438" algn="l"/>
                  <a:tab pos="7632700" algn="l"/>
                  <a:tab pos="8081963" algn="l"/>
                  <a:tab pos="8531225" algn="l"/>
                  <a:tab pos="8980488" algn="l"/>
                  <a:tab pos="9429750" algn="l"/>
                  <a:tab pos="9879013" algn="l"/>
                  <a:tab pos="10328275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</a:defRPr>
              </a:lvl2pPr>
              <a:lvl3pPr>
                <a:tabLst>
                  <a:tab pos="0" algn="l"/>
                  <a:tab pos="444500" algn="l"/>
                  <a:tab pos="893763" algn="l"/>
                  <a:tab pos="1343025" algn="l"/>
                  <a:tab pos="1792288" algn="l"/>
                  <a:tab pos="2241550" algn="l"/>
                  <a:tab pos="2690813" algn="l"/>
                  <a:tab pos="3140075" algn="l"/>
                  <a:tab pos="3589338" algn="l"/>
                  <a:tab pos="4038600" algn="l"/>
                  <a:tab pos="4487863" algn="l"/>
                  <a:tab pos="4937125" algn="l"/>
                  <a:tab pos="5386388" algn="l"/>
                  <a:tab pos="5835650" algn="l"/>
                  <a:tab pos="6284913" algn="l"/>
                  <a:tab pos="6734175" algn="l"/>
                  <a:tab pos="7183438" algn="l"/>
                  <a:tab pos="7632700" algn="l"/>
                  <a:tab pos="8081963" algn="l"/>
                  <a:tab pos="8531225" algn="l"/>
                  <a:tab pos="8980488" algn="l"/>
                  <a:tab pos="9429750" algn="l"/>
                  <a:tab pos="9879013" algn="l"/>
                  <a:tab pos="10328275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</a:defRPr>
              </a:lvl3pPr>
              <a:lvl4pPr>
                <a:tabLst>
                  <a:tab pos="0" algn="l"/>
                  <a:tab pos="444500" algn="l"/>
                  <a:tab pos="893763" algn="l"/>
                  <a:tab pos="1343025" algn="l"/>
                  <a:tab pos="1792288" algn="l"/>
                  <a:tab pos="2241550" algn="l"/>
                  <a:tab pos="2690813" algn="l"/>
                  <a:tab pos="3140075" algn="l"/>
                  <a:tab pos="3589338" algn="l"/>
                  <a:tab pos="4038600" algn="l"/>
                  <a:tab pos="4487863" algn="l"/>
                  <a:tab pos="4937125" algn="l"/>
                  <a:tab pos="5386388" algn="l"/>
                  <a:tab pos="5835650" algn="l"/>
                  <a:tab pos="6284913" algn="l"/>
                  <a:tab pos="6734175" algn="l"/>
                  <a:tab pos="7183438" algn="l"/>
                  <a:tab pos="7632700" algn="l"/>
                  <a:tab pos="8081963" algn="l"/>
                  <a:tab pos="8531225" algn="l"/>
                  <a:tab pos="8980488" algn="l"/>
                  <a:tab pos="9429750" algn="l"/>
                  <a:tab pos="9879013" algn="l"/>
                  <a:tab pos="10328275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</a:defRPr>
              </a:lvl4pPr>
              <a:lvl5pPr>
                <a:tabLst>
                  <a:tab pos="0" algn="l"/>
                  <a:tab pos="444500" algn="l"/>
                  <a:tab pos="893763" algn="l"/>
                  <a:tab pos="1343025" algn="l"/>
                  <a:tab pos="1792288" algn="l"/>
                  <a:tab pos="2241550" algn="l"/>
                  <a:tab pos="2690813" algn="l"/>
                  <a:tab pos="3140075" algn="l"/>
                  <a:tab pos="3589338" algn="l"/>
                  <a:tab pos="4038600" algn="l"/>
                  <a:tab pos="4487863" algn="l"/>
                  <a:tab pos="4937125" algn="l"/>
                  <a:tab pos="5386388" algn="l"/>
                  <a:tab pos="5835650" algn="l"/>
                  <a:tab pos="6284913" algn="l"/>
                  <a:tab pos="6734175" algn="l"/>
                  <a:tab pos="7183438" algn="l"/>
                  <a:tab pos="7632700" algn="l"/>
                  <a:tab pos="8081963" algn="l"/>
                  <a:tab pos="8531225" algn="l"/>
                  <a:tab pos="8980488" algn="l"/>
                  <a:tab pos="9429750" algn="l"/>
                  <a:tab pos="9879013" algn="l"/>
                  <a:tab pos="10328275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4500" algn="l"/>
                  <a:tab pos="893763" algn="l"/>
                  <a:tab pos="1343025" algn="l"/>
                  <a:tab pos="1792288" algn="l"/>
                  <a:tab pos="2241550" algn="l"/>
                  <a:tab pos="2690813" algn="l"/>
                  <a:tab pos="3140075" algn="l"/>
                  <a:tab pos="3589338" algn="l"/>
                  <a:tab pos="4038600" algn="l"/>
                  <a:tab pos="4487863" algn="l"/>
                  <a:tab pos="4937125" algn="l"/>
                  <a:tab pos="5386388" algn="l"/>
                  <a:tab pos="5835650" algn="l"/>
                  <a:tab pos="6284913" algn="l"/>
                  <a:tab pos="6734175" algn="l"/>
                  <a:tab pos="7183438" algn="l"/>
                  <a:tab pos="7632700" algn="l"/>
                  <a:tab pos="8081963" algn="l"/>
                  <a:tab pos="8531225" algn="l"/>
                  <a:tab pos="8980488" algn="l"/>
                  <a:tab pos="9429750" algn="l"/>
                  <a:tab pos="9879013" algn="l"/>
                  <a:tab pos="10328275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4500" algn="l"/>
                  <a:tab pos="893763" algn="l"/>
                  <a:tab pos="1343025" algn="l"/>
                  <a:tab pos="1792288" algn="l"/>
                  <a:tab pos="2241550" algn="l"/>
                  <a:tab pos="2690813" algn="l"/>
                  <a:tab pos="3140075" algn="l"/>
                  <a:tab pos="3589338" algn="l"/>
                  <a:tab pos="4038600" algn="l"/>
                  <a:tab pos="4487863" algn="l"/>
                  <a:tab pos="4937125" algn="l"/>
                  <a:tab pos="5386388" algn="l"/>
                  <a:tab pos="5835650" algn="l"/>
                  <a:tab pos="6284913" algn="l"/>
                  <a:tab pos="6734175" algn="l"/>
                  <a:tab pos="7183438" algn="l"/>
                  <a:tab pos="7632700" algn="l"/>
                  <a:tab pos="8081963" algn="l"/>
                  <a:tab pos="8531225" algn="l"/>
                  <a:tab pos="8980488" algn="l"/>
                  <a:tab pos="9429750" algn="l"/>
                  <a:tab pos="9879013" algn="l"/>
                  <a:tab pos="10328275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4500" algn="l"/>
                  <a:tab pos="893763" algn="l"/>
                  <a:tab pos="1343025" algn="l"/>
                  <a:tab pos="1792288" algn="l"/>
                  <a:tab pos="2241550" algn="l"/>
                  <a:tab pos="2690813" algn="l"/>
                  <a:tab pos="3140075" algn="l"/>
                  <a:tab pos="3589338" algn="l"/>
                  <a:tab pos="4038600" algn="l"/>
                  <a:tab pos="4487863" algn="l"/>
                  <a:tab pos="4937125" algn="l"/>
                  <a:tab pos="5386388" algn="l"/>
                  <a:tab pos="5835650" algn="l"/>
                  <a:tab pos="6284913" algn="l"/>
                  <a:tab pos="6734175" algn="l"/>
                  <a:tab pos="7183438" algn="l"/>
                  <a:tab pos="7632700" algn="l"/>
                  <a:tab pos="8081963" algn="l"/>
                  <a:tab pos="8531225" algn="l"/>
                  <a:tab pos="8980488" algn="l"/>
                  <a:tab pos="9429750" algn="l"/>
                  <a:tab pos="9879013" algn="l"/>
                  <a:tab pos="10328275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4500" algn="l"/>
                  <a:tab pos="893763" algn="l"/>
                  <a:tab pos="1343025" algn="l"/>
                  <a:tab pos="1792288" algn="l"/>
                  <a:tab pos="2241550" algn="l"/>
                  <a:tab pos="2690813" algn="l"/>
                  <a:tab pos="3140075" algn="l"/>
                  <a:tab pos="3589338" algn="l"/>
                  <a:tab pos="4038600" algn="l"/>
                  <a:tab pos="4487863" algn="l"/>
                  <a:tab pos="4937125" algn="l"/>
                  <a:tab pos="5386388" algn="l"/>
                  <a:tab pos="5835650" algn="l"/>
                  <a:tab pos="6284913" algn="l"/>
                  <a:tab pos="6734175" algn="l"/>
                  <a:tab pos="7183438" algn="l"/>
                  <a:tab pos="7632700" algn="l"/>
                  <a:tab pos="8081963" algn="l"/>
                  <a:tab pos="8531225" algn="l"/>
                  <a:tab pos="8980488" algn="l"/>
                  <a:tab pos="9429750" algn="l"/>
                  <a:tab pos="9879013" algn="l"/>
                  <a:tab pos="10328275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</a:defRPr>
              </a:lvl9pPr>
            </a:lstStyle>
            <a:p>
              <a:pPr algn="ctr" eaLnBrk="1">
                <a:buSzPct val="100000"/>
                <a:defRPr/>
              </a:pPr>
              <a:r>
                <a:rPr lang="zh-TW" altLang="zh-TW" sz="1000">
                  <a:cs typeface="Arial" panose="020B0604020202020204" pitchFamily="34" charset="0"/>
                </a:rPr>
                <a:t>尊重●誠信●效率●創新</a:t>
              </a:r>
            </a:p>
          </p:txBody>
        </p:sp>
      </p:grpSp>
      <p:sp>
        <p:nvSpPr>
          <p:cNvPr id="1027" name="Freeform 4"/>
          <p:cNvSpPr>
            <a:spLocks noChangeArrowheads="1"/>
          </p:cNvSpPr>
          <p:nvPr/>
        </p:nvSpPr>
        <p:spPr bwMode="auto">
          <a:xfrm rot="16200000">
            <a:off x="10761663" y="5440364"/>
            <a:ext cx="847725" cy="1987549"/>
          </a:xfrm>
          <a:custGeom>
            <a:avLst/>
            <a:gdLst>
              <a:gd name="T0" fmla="*/ 847725 w 847725"/>
              <a:gd name="T1" fmla="*/ 745331 h 1490663"/>
              <a:gd name="T2" fmla="*/ 423863 w 847725"/>
              <a:gd name="T3" fmla="*/ 1490657 h 1490663"/>
              <a:gd name="T4" fmla="*/ 0 w 847725"/>
              <a:gd name="T5" fmla="*/ 745331 h 1490663"/>
              <a:gd name="T6" fmla="*/ 423863 w 847725"/>
              <a:gd name="T7" fmla="*/ 0 h 1490663"/>
              <a:gd name="T8" fmla="*/ 0 60000 65536"/>
              <a:gd name="T9" fmla="*/ 0 60000 65536"/>
              <a:gd name="T10" fmla="*/ 0 60000 65536"/>
              <a:gd name="T11" fmla="*/ 0 60000 65536"/>
              <a:gd name="T12" fmla="*/ 0 w 847725"/>
              <a:gd name="T13" fmla="*/ 0 h 1490663"/>
              <a:gd name="T14" fmla="*/ 847725 w 847725"/>
              <a:gd name="T15" fmla="*/ 1490663 h 14906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7725" h="1490663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C9173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 sz="18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3136901" y="6235701"/>
            <a:ext cx="5913967" cy="212725"/>
          </a:xfrm>
          <a:prstGeom prst="rect">
            <a:avLst/>
          </a:prstGeom>
          <a:noFill/>
          <a:ln>
            <a:noFill/>
          </a:ln>
          <a:effectLst/>
        </p:spPr>
        <p:txBody>
          <a:bodyPr lIns="45720" tIns="45000" rIns="45720" bIns="45000">
            <a:spAutoFit/>
          </a:bodyPr>
          <a:lstStyle>
            <a:lvl1pPr>
              <a:tabLst>
                <a:tab pos="0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tabLst>
                <a:tab pos="0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tabLst>
                <a:tab pos="0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tabLst>
                <a:tab pos="0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tabLst>
                <a:tab pos="0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algn="ctr" eaLnBrk="1">
              <a:buSzPct val="100000"/>
              <a:defRPr/>
            </a:pPr>
            <a:r>
              <a:rPr lang="en-US" altLang="zh-TW" sz="800">
                <a:solidFill>
                  <a:srgbClr val="BFBFBF"/>
                </a:solidFill>
                <a:latin typeface="Franklin Gothic Book" panose="020B0503020102020204" pitchFamily="34" charset="0"/>
              </a:rPr>
              <a:t>© 2020 Harbor Technology Solutions Co., Ltd. Confidential &amp; Proprietary All Rights Reserved.</a:t>
            </a: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1" y="74613"/>
            <a:ext cx="2673351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0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3050"/>
            <a:ext cx="10964333" cy="1138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GB" smtClean="0"/>
              <a:t>請按這裡編輯題名文字格式</a:t>
            </a:r>
          </a:p>
        </p:txBody>
      </p:sp>
      <p:sp>
        <p:nvSpPr>
          <p:cNvPr id="1031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4964"/>
            <a:ext cx="10964333" cy="397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44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GB" smtClean="0"/>
              <a:t>請按這裡編輯大綱文字格式</a:t>
            </a:r>
          </a:p>
          <a:p>
            <a:pPr lvl="1"/>
            <a:r>
              <a:rPr lang="zh-TW" altLang="en-GB" smtClean="0"/>
              <a:t>第二個大綱層次</a:t>
            </a:r>
          </a:p>
          <a:p>
            <a:pPr lvl="2"/>
            <a:r>
              <a:rPr lang="zh-TW" altLang="en-GB" smtClean="0"/>
              <a:t>第三個大綱層次</a:t>
            </a:r>
          </a:p>
          <a:p>
            <a:pPr lvl="3"/>
            <a:r>
              <a:rPr lang="zh-TW" altLang="en-GB" smtClean="0"/>
              <a:t>第四個大綱層次</a:t>
            </a:r>
          </a:p>
          <a:p>
            <a:pPr lvl="4"/>
            <a:r>
              <a:rPr lang="zh-TW" altLang="en-GB" smtClean="0"/>
              <a:t>第五個大綱層次</a:t>
            </a:r>
          </a:p>
          <a:p>
            <a:pPr lvl="4"/>
            <a:r>
              <a:rPr lang="zh-TW" altLang="en-GB" smtClean="0"/>
              <a:t>第六個大綱層次</a:t>
            </a:r>
          </a:p>
          <a:p>
            <a:pPr lvl="4"/>
            <a:r>
              <a:rPr lang="zh-TW" altLang="en-GB" smtClean="0"/>
              <a:t>第七個大綱層次</a:t>
            </a:r>
          </a:p>
        </p:txBody>
      </p:sp>
      <p:pic>
        <p:nvPicPr>
          <p:cNvPr id="1032" name="Picture 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85" y="-49213"/>
            <a:ext cx="10720916" cy="638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423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微軟正黑體" panose="020B0604030504040204" pitchFamily="34" charset="-120"/>
        </a:defRPr>
      </a:lvl2pPr>
      <a:lvl3pPr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微軟正黑體" panose="020B0604030504040204" pitchFamily="34" charset="-120"/>
        </a:defRPr>
      </a:lvl3pPr>
      <a:lvl4pPr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微軟正黑體" panose="020B0604030504040204" pitchFamily="34" charset="-120"/>
        </a:defRPr>
      </a:lvl4pPr>
      <a:lvl5pPr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微軟正黑體" panose="020B0604030504040204" pitchFamily="34" charset="-120"/>
        </a:defRPr>
      </a:lvl5pPr>
      <a:lvl6pPr marL="25146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微軟正黑體" panose="020B0604030504040204" pitchFamily="34" charset="-120"/>
        </a:defRPr>
      </a:lvl6pPr>
      <a:lvl7pPr marL="29718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微軟正黑體" panose="020B0604030504040204" pitchFamily="34" charset="-120"/>
        </a:defRPr>
      </a:lvl7pPr>
      <a:lvl8pPr marL="34290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微軟正黑體" panose="020B0604030504040204" pitchFamily="34" charset="-120"/>
        </a:defRPr>
      </a:lvl8pPr>
      <a:lvl9pPr marL="38862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微軟正黑體" panose="020B0604030504040204" pitchFamily="34" charset="-120"/>
        </a:defRPr>
      </a:lvl9pPr>
    </p:titleStyle>
    <p:bodyStyle>
      <a:lvl1pPr marL="342900" indent="-342900" algn="l" defTabSz="449263" rtl="0" eaLnBrk="1" fontAlgn="base" hangingPunct="1">
        <a:lnSpc>
          <a:spcPct val="93000"/>
        </a:lnSpc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1" fontAlgn="base" hangingPunct="1">
        <a:lnSpc>
          <a:spcPct val="93000"/>
        </a:lnSpc>
        <a:spcBef>
          <a:spcPts val="11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1" fontAlgn="base" hangingPunct="1">
        <a:lnSpc>
          <a:spcPct val="93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1" fontAlgn="base" hangingPunct="1">
        <a:lnSpc>
          <a:spcPct val="93000"/>
        </a:lnSpc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1" fontAlgn="base" hangingPunct="1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g.tw/zh-tw/a3-4326/%E8%BB%B8%E6%89%BF%E9%A0%BB%E8%AD%9C%E9%87%8F%E6%B8%AC.html" TargetMode="External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9zR47oSVXk?t=462" TargetMode="External"/><Relationship Id="rId2" Type="http://schemas.openxmlformats.org/officeDocument/2006/relationships/hyperlink" Target="https://youtu.be/s9zR47oSVXk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youtu.be/s9zR47oSVXk?t=445" TargetMode="External"/><Relationship Id="rId5" Type="http://schemas.openxmlformats.org/officeDocument/2006/relationships/hyperlink" Target="https://youtu.be/s9zR47oSVXk?t=430" TargetMode="External"/><Relationship Id="rId4" Type="http://schemas.openxmlformats.org/officeDocument/2006/relationships/hyperlink" Target="https://youtu.be/s9zR47oSVXk?t=40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omron.com.tw/data_pdf/cat/k6cm_sgte-660n-tw5-01.pdf?id=3686" TargetMode="External"/><Relationship Id="rId4" Type="http://schemas.openxmlformats.org/officeDocument/2006/relationships/image" Target="../media/image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馬達軸承異常頻譜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609600" y="1521070"/>
            <a:ext cx="10556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當</a:t>
            </a:r>
            <a:r>
              <a:rPr lang="zh-TW" altLang="en-US" dirty="0"/>
              <a:t>問題發生時極有可能會在拆裝的過程中，導致軸承造成的其他損傷，從而誤判問題的根源，而頻譜可以在不需要拆裝的情況下對軸承進行檢查，並可以推判出可能是何種原因造成軸承損壞。</a:t>
            </a:r>
          </a:p>
        </p:txBody>
      </p:sp>
      <p:pic>
        <p:nvPicPr>
          <p:cNvPr id="4" name="圖片 3" descr="畫面剪輯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28" y="2277183"/>
            <a:ext cx="9108118" cy="349114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150509" y="6145822"/>
            <a:ext cx="40414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參考網址</a:t>
            </a:r>
            <a:r>
              <a:rPr lang="en-US" altLang="zh-TW" sz="1200" dirty="0" smtClean="0"/>
              <a:t>:</a:t>
            </a:r>
            <a:r>
              <a:rPr lang="zh-TW" altLang="en-US" sz="1200" dirty="0" smtClean="0">
                <a:hlinkClick r:id="rId3"/>
              </a:rPr>
              <a:t>軸承頻譜量測 </a:t>
            </a:r>
            <a:r>
              <a:rPr lang="en-US" altLang="zh-TW" sz="1200" dirty="0" smtClean="0">
                <a:hlinkClick r:id="rId3"/>
              </a:rPr>
              <a:t>- </a:t>
            </a:r>
            <a:r>
              <a:rPr lang="zh-TW" altLang="en-US" sz="1200" dirty="0" smtClean="0">
                <a:hlinkClick r:id="rId3"/>
              </a:rPr>
              <a:t>高更精密工業有限公司 </a:t>
            </a:r>
            <a:r>
              <a:rPr lang="en-US" altLang="zh-TW" sz="1200" dirty="0" smtClean="0">
                <a:hlinkClick r:id="rId3"/>
              </a:rPr>
              <a:t>(gng.tw)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0827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畫面剪輯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38" y="361428"/>
            <a:ext cx="8291278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35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馬達異音範例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51338" y="1411288"/>
            <a:ext cx="95279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sz="2400" dirty="0" smtClean="0"/>
              <a:t>影片參考網址 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 </a:t>
            </a:r>
            <a:r>
              <a:rPr lang="en-US" altLang="zh-TW" sz="2400" dirty="0">
                <a:hlinkClick r:id="rId2"/>
              </a:rPr>
              <a:t>2016-</a:t>
            </a:r>
            <a:r>
              <a:rPr lang="zh-TW" altLang="en-US" sz="2400" dirty="0">
                <a:hlinkClick r:id="rId2"/>
              </a:rPr>
              <a:t>旺宏金矽獎</a:t>
            </a:r>
            <a:r>
              <a:rPr lang="en-US" altLang="zh-TW" sz="2400" dirty="0">
                <a:hlinkClick r:id="rId2"/>
              </a:rPr>
              <a:t>-</a:t>
            </a:r>
            <a:r>
              <a:rPr lang="zh-TW" altLang="en-US" sz="2400" dirty="0" smtClean="0">
                <a:hlinkClick r:id="rId2"/>
              </a:rPr>
              <a:t>防患未然 </a:t>
            </a:r>
            <a:endParaRPr lang="en-US" altLang="zh-TW" sz="2400" dirty="0" smtClean="0"/>
          </a:p>
          <a:p>
            <a:endParaRPr lang="en-US" altLang="zh-TW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400" dirty="0" smtClean="0"/>
              <a:t>正常馬達 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影片</a:t>
            </a:r>
            <a:r>
              <a:rPr lang="en-US" altLang="zh-TW" sz="2400" dirty="0" smtClean="0"/>
              <a:t>7:42</a:t>
            </a:r>
            <a:r>
              <a:rPr lang="zh-TW" altLang="en-US" sz="2400" dirty="0" smtClean="0"/>
              <a:t>秒 </a:t>
            </a:r>
            <a:r>
              <a:rPr lang="en-US" altLang="zh-TW" sz="2400" dirty="0" smtClean="0">
                <a:hlinkClick r:id="rId3"/>
              </a:rPr>
              <a:t>https://youtu.be/s9zR47oSVXk?t=462</a:t>
            </a:r>
            <a:endParaRPr lang="en-US" altLang="zh-TW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400" dirty="0" smtClean="0"/>
              <a:t>不平衡 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 影片</a:t>
            </a:r>
            <a:r>
              <a:rPr lang="en-US" altLang="zh-TW" sz="2400" dirty="0" smtClean="0"/>
              <a:t>6:45</a:t>
            </a:r>
            <a:r>
              <a:rPr lang="zh-TW" altLang="en-US" sz="2400" dirty="0" smtClean="0"/>
              <a:t>秒 </a:t>
            </a:r>
            <a:r>
              <a:rPr lang="en-US" altLang="zh-TW" sz="2400" dirty="0" smtClean="0">
                <a:hlinkClick r:id="rId4"/>
              </a:rPr>
              <a:t>https://youtu.be/s9zR47oSVXk?t=405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400" dirty="0" smtClean="0"/>
              <a:t>不對心 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 影片</a:t>
            </a:r>
            <a:r>
              <a:rPr lang="en-US" altLang="zh-TW" sz="2400" dirty="0" smtClean="0"/>
              <a:t>7:10</a:t>
            </a:r>
            <a:r>
              <a:rPr lang="zh-TW" altLang="en-US" sz="2400" dirty="0" smtClean="0"/>
              <a:t>秒 </a:t>
            </a:r>
            <a:r>
              <a:rPr lang="en-US" altLang="zh-TW" sz="2400" dirty="0" smtClean="0">
                <a:hlinkClick r:id="rId5"/>
              </a:rPr>
              <a:t>https://youtu.be/s9zR47oSVXk?t=430</a:t>
            </a:r>
            <a:endParaRPr lang="en-US" altLang="zh-TW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400" dirty="0" smtClean="0"/>
              <a:t>鬆動 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 影片</a:t>
            </a:r>
            <a:r>
              <a:rPr lang="en-US" altLang="zh-TW" sz="2400" dirty="0" smtClean="0"/>
              <a:t>7:25</a:t>
            </a:r>
            <a:r>
              <a:rPr lang="zh-TW" altLang="en-US" sz="2400" dirty="0" smtClean="0"/>
              <a:t>秒 </a:t>
            </a:r>
            <a:r>
              <a:rPr lang="en-US" altLang="zh-TW" sz="2400" dirty="0" smtClean="0">
                <a:hlinkClick r:id="rId6"/>
              </a:rPr>
              <a:t>https://youtu.be/s9zR47oSVXk?t=445</a:t>
            </a:r>
            <a:endParaRPr lang="en-US" altLang="zh-TW" sz="2400" dirty="0" smtClean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1450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馬達</a:t>
            </a:r>
            <a:r>
              <a:rPr lang="zh-TW" altLang="en-US" dirty="0" smtClean="0"/>
              <a:t>異常</a:t>
            </a:r>
            <a:r>
              <a:rPr lang="en-US" altLang="zh-TW" dirty="0" smtClean="0"/>
              <a:t>-</a:t>
            </a:r>
            <a:r>
              <a:rPr lang="zh-TW" altLang="en-US" dirty="0" smtClean="0"/>
              <a:t>電流診斷</a:t>
            </a:r>
            <a:endParaRPr lang="zh-TW" altLang="en-US" dirty="0"/>
          </a:p>
        </p:txBody>
      </p:sp>
      <p:pic>
        <p:nvPicPr>
          <p:cNvPr id="4" name="圖片 3" descr="畫面剪輯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9" y="2493901"/>
            <a:ext cx="4680000" cy="2412428"/>
          </a:xfrm>
          <a:prstGeom prst="rect">
            <a:avLst/>
          </a:prstGeom>
        </p:spPr>
      </p:pic>
      <p:pic>
        <p:nvPicPr>
          <p:cNvPr id="5" name="圖片 4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663" y="1568240"/>
            <a:ext cx="4680000" cy="2131875"/>
          </a:xfrm>
          <a:prstGeom prst="rect">
            <a:avLst/>
          </a:prstGeom>
        </p:spPr>
      </p:pic>
      <p:pic>
        <p:nvPicPr>
          <p:cNvPr id="6" name="圖片 5" descr="畫面剪輯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663" y="3857067"/>
            <a:ext cx="4680000" cy="2006521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8159302" y="6119445"/>
            <a:ext cx="3855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參考網址</a:t>
            </a:r>
            <a:r>
              <a:rPr lang="en-US" altLang="zh-TW" sz="1200" dirty="0" smtClean="0"/>
              <a:t>:</a:t>
            </a:r>
            <a:r>
              <a:rPr lang="en-US" altLang="zh-TW" sz="1200" dirty="0" smtClean="0">
                <a:hlinkClick r:id="rId5"/>
              </a:rPr>
              <a:t>k6cm_sgte-660n-tw5-01.pdf (omron.com.tw)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32774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大量鑽孔機斷針偵測模型20210401">
  <a:themeElements>
    <a:clrScheme name="Office 佈景主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佈景主題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zh-TW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微軟正黑體" panose="020B0604030504040204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zh-TW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微軟正黑體" panose="020B0604030504040204" pitchFamily="34" charset="-120"/>
          </a:defRPr>
        </a:defPPr>
      </a:lstStyle>
    </a:lnDef>
  </a:objectDefaults>
  <a:extraClrSchemeLst>
    <a:extraClrScheme>
      <a:clrScheme name="Office 佈景主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618ED7DE9BFEC04684966433A3B050C9" ma:contentTypeVersion="17" ma:contentTypeDescription="建立新的文件。" ma:contentTypeScope="" ma:versionID="2232da9afb57fc1a2de4525c58778e4f">
  <xsd:schema xmlns:xsd="http://www.w3.org/2001/XMLSchema" xmlns:xs="http://www.w3.org/2001/XMLSchema" xmlns:p="http://schemas.microsoft.com/office/2006/metadata/properties" xmlns:ns2="4f467d50-7397-4d15-b532-d9f96c257024" xmlns:ns3="2fdc8fa6-307b-4d08-86e9-ab2bf59f76dd" targetNamespace="http://schemas.microsoft.com/office/2006/metadata/properties" ma:root="true" ma:fieldsID="47c18ecaf353092ea5e0b3c6b041042e" ns2:_="" ns3:_="">
    <xsd:import namespace="4f467d50-7397-4d15-b532-d9f96c257024"/>
    <xsd:import namespace="2fdc8fa6-307b-4d08-86e9-ab2bf59f76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467d50-7397-4d15-b532-d9f96c2570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影像標籤" ma:readOnly="false" ma:fieldId="{5cf76f15-5ced-4ddc-b409-7134ff3c332f}" ma:taxonomyMulti="true" ma:sspId="bd8bedba-a93e-4862-b8a1-897ca5d6ff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c8fa6-307b-4d08-86e9-ab2bf59f76d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07ce51a-820e-4087-a75b-bf5ab69def3a}" ma:internalName="TaxCatchAll" ma:showField="CatchAllData" ma:web="2fdc8fa6-307b-4d08-86e9-ab2bf59f76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4f467d50-7397-4d15-b532-d9f96c257024" xsi:nil="true"/>
    <TaxCatchAll xmlns="2fdc8fa6-307b-4d08-86e9-ab2bf59f76dd" xsi:nil="true"/>
    <lcf76f155ced4ddcb4097134ff3c332f xmlns="4f467d50-7397-4d15-b532-d9f96c2570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B5CE156-A9A4-4B38-A757-45F8F6124E8E}"/>
</file>

<file path=customXml/itemProps2.xml><?xml version="1.0" encoding="utf-8"?>
<ds:datastoreItem xmlns:ds="http://schemas.openxmlformats.org/officeDocument/2006/customXml" ds:itemID="{0F394B4F-1CE1-44BD-87F2-756B1820C05A}"/>
</file>

<file path=customXml/itemProps3.xml><?xml version="1.0" encoding="utf-8"?>
<ds:datastoreItem xmlns:ds="http://schemas.openxmlformats.org/officeDocument/2006/customXml" ds:itemID="{617C49E0-75DB-46AE-87A7-1F59761D0098}"/>
</file>

<file path=docProps/app.xml><?xml version="1.0" encoding="utf-8"?>
<Properties xmlns="http://schemas.openxmlformats.org/officeDocument/2006/extended-properties" xmlns:vt="http://schemas.openxmlformats.org/officeDocument/2006/docPropsVTypes">
  <Template>[大量]預測分析</Template>
  <TotalTime>34</TotalTime>
  <Words>141</Words>
  <Application>Microsoft Office PowerPoint</Application>
  <PresentationFormat>寬螢幕</PresentationFormat>
  <Paragraphs>12</Paragraphs>
  <Slides>4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微軟正黑體</vt:lpstr>
      <vt:lpstr>Arial</vt:lpstr>
      <vt:lpstr>Franklin Gothic Book</vt:lpstr>
      <vt:lpstr>Times New Roman</vt:lpstr>
      <vt:lpstr>Wingdings</vt:lpstr>
      <vt:lpstr>大量鑽孔機斷針偵測模型20210401</vt:lpstr>
      <vt:lpstr>馬達軸承異常頻譜</vt:lpstr>
      <vt:lpstr>PowerPoint 簡報</vt:lpstr>
      <vt:lpstr>馬達異音範例</vt:lpstr>
      <vt:lpstr>馬達異常-電流診斷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6</cp:revision>
  <dcterms:created xsi:type="dcterms:W3CDTF">2021-06-23T10:20:30Z</dcterms:created>
  <dcterms:modified xsi:type="dcterms:W3CDTF">2021-06-23T10:54:52Z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266000</vt:r8>
  </property>
  <property fmtid="{D5CDD505-2E9C-101B-9397-08002B2CF9AE}" pid="3" name="ContentTypeId">
    <vt:lpwstr>0x010100618ED7DE9BFEC04684966433A3B050C9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